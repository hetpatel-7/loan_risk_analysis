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Inter SemiBold" panose="020B0604020202020204" charset="0"/>
      <p:regular r:id="rId31"/>
      <p:bold r:id="rId32"/>
      <p:italic r:id="rId33"/>
      <p:boldItalic r:id="rId34"/>
    </p:embeddedFont>
    <p:embeddedFont>
      <p:font typeface="Outfit" panose="020B0604020202020204" charset="0"/>
      <p:regular r:id="rId35"/>
      <p:bold r:id="rId36"/>
    </p:embeddedFont>
    <p:embeddedFont>
      <p:font typeface="Outfit SemiBold" panose="020B060402020202020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56EABF-7106-4902-8DD7-AD6DABE9A89C}">
  <a:tblStyle styleId="{8B56EABF-7106-4902-8DD7-AD6DABE9A8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5cc1e971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a5cc1e971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5cc1e971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a5cc1e971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5cc1e971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a5cc1e971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5cc1e971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a5cc1e971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5cc1e971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a5cc1e971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5cc1e971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a5cc1e971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f23e766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af23e766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f23e766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3af23e766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f23e766bb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af23e766bb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f23e766b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af23e766b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1300" y="4890938"/>
            <a:ext cx="6629400" cy="81721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80548" y="2121396"/>
            <a:ext cx="7230903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Analyzing &amp; Predicting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Loan Default Risks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" y="3926136"/>
            <a:ext cx="1219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Data-Driven Approach to Financial Safety for Banks and Borrowers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0" y="1206996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781300" y="5262413"/>
            <a:ext cx="6629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Presented by 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Het Patel, Aamir Naveed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71625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04875" y="229552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Overview: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Defining Loan Default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279082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Overview: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Dataset Source and Details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328612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Exploratory Dat</a:t>
            </a:r>
            <a:r>
              <a:rPr lang="en-US" sz="15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Analysis: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Visualizing Key Trends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37814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Pattern Discovery: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Association Rule Mining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42767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Predictive Modeling: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Logistic Regression vs. Trees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47720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Customer Segmentation: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Risk Zones &amp; Pricing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526732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Financial Impact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23875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Agenda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33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28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24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195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14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10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054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5100" y="1696850"/>
            <a:ext cx="4512050" cy="45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52387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19250"/>
            <a:ext cx="523875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962025" y="200977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Definition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62025" y="253365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Loan default occurs when a borrower fails to repay a loan according to the agreed terms. It is the failure to meet the legal obligations (or conditions) of a loan.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200977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Target Variable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772275" y="25336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our dataset, this is a binary classification problem: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0478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0478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6772275" y="333375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 (Default):</a:t>
            </a:r>
            <a:r>
              <a:rPr lang="en-US" sz="1500" b="0" i="0" u="none" strike="noStrike" cap="none">
                <a:solidFill>
                  <a:srgbClr val="FB7185"/>
                </a:solidFill>
                <a:latin typeface="Inter"/>
                <a:ea typeface="Inter"/>
                <a:cs typeface="Inter"/>
                <a:sym typeface="Inter"/>
              </a:rPr>
              <a:t> Failed to pay.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772275" y="37338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(Paid):</a:t>
            </a:r>
            <a:r>
              <a:rPr lang="en-US" sz="1500" b="0" i="0" u="none" strike="noStrike" cap="non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 Successfully repaid.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53987" y="345014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44843" y="386848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What is Loan Default?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523875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19250"/>
            <a:ext cx="523875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5791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Goal: Create a "Win-Win" ecosystem of responsible lending.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62025" y="200977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For Banks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62025" y="25336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Minimizes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"Non-Performing Assets" (NPA)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Predicting default saves millions in lost capital and avoids costly legal recovery processes.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772275" y="200977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For Customers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772275" y="253365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Prevents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predatory lending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Helps applicants avoid taking on debt burdens they statistically cannot manage, protecting their long-term financial health.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0478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04787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Why Analyze Default?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3492549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619250"/>
            <a:ext cx="3492549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619250"/>
            <a:ext cx="3492549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1397585" y="2667000"/>
            <a:ext cx="184023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Source &amp; Volume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66775" y="326707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Sourced from Kaggle Loan Dataset containing </a:t>
            </a: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20,000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unique loan applicants.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300900" y="2667000"/>
            <a:ext cx="159019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Data Integrity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645074" y="326707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 Missing Values.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clean dataset requiring no imputation, ensuring high reliability.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249221" y="2667000"/>
            <a:ext cx="125015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Data Types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127925" y="3267075"/>
            <a:ext cx="3492600" cy="14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Mixed Data: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Nominal (Gender,Marital Sta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tus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Ordinal (Educational Level, Grade)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Ratio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Annual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Income, Loan Amt)</a:t>
            </a:r>
            <a:endParaRPr sz="135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Interval (Credit Score)</a:t>
            </a: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Binary(Loan Paid Back)</a:t>
            </a: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7675" y="19621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19621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17124" y="19621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Dataset Overview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3379388" y="5888400"/>
            <a:ext cx="5766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 Imbalance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There are less number of people who have defaulted on their loans.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Exploratory Data Analysis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12192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6013" y="5926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5950" y="1329225"/>
            <a:ext cx="6100096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3379325" y="5888400"/>
            <a:ext cx="5766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Credit Score Distribution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Defaulters have lower median credit score compared to people who have paid their loans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Exploratory Data Analysis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12192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5950" y="5926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0925" y="1353500"/>
            <a:ext cx="6290149" cy="44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3379325" y="5888400"/>
            <a:ext cx="5766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Distinct Pattern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Gender and Marital status have no effect on a person’s credit score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Exploratory Data Analysis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12192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5950" y="5926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0675" y="1428500"/>
            <a:ext cx="5990652" cy="43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3379325" y="5888400"/>
            <a:ext cx="5766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Important Factor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Unemployed people and students default more on their loans.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Exploratory Data Analysis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71500" y="12192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5950" y="5926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4262" y="1397650"/>
            <a:ext cx="6023483" cy="433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Exploratory Data Analysis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571500" y="12192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6975" y="1401300"/>
            <a:ext cx="7198050" cy="517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964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Exploratory Data Analysis</a:t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571500" y="12192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174" y="1322025"/>
            <a:ext cx="7471653" cy="545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3492549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619250"/>
            <a:ext cx="3492549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619250"/>
            <a:ext cx="3492549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1527601" y="2667000"/>
            <a:ext cx="15801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The Challenge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866775" y="326707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Algorithms like Apriori cannot handle raw continuous numbers (e.g., Income: $50,000).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5405913" y="2667000"/>
            <a:ext cx="138017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The Solution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4645074" y="326707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Binning (Discretization)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using Equal Frequency Binning to split data into balanced groups.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9139207" y="2667000"/>
            <a:ext cx="147018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Methodology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8740824" y="3267075"/>
            <a:ext cx="22669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Income: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Low, Medium, High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Credit: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Poor, Fair, Good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DTI: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Low, Med, High Risk</a:t>
            </a:r>
            <a:endParaRPr/>
          </a:p>
        </p:txBody>
      </p:sp>
      <p:pic>
        <p:nvPicPr>
          <p:cNvPr id="237" name="Google Shape;237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19621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19621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19621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Association Rule Mining: The Setup</a:t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3492549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619250"/>
            <a:ext cx="3492549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619250"/>
            <a:ext cx="3492549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Association Rule Mining</a:t>
            </a:r>
            <a:r>
              <a:rPr lang="en-US" sz="3150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: Bin Boundaries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71500" y="12192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" name="Google Shape;252;p25"/>
          <p:cNvGraphicFramePr/>
          <p:nvPr/>
        </p:nvGraphicFramePr>
        <p:xfrm>
          <a:off x="866825" y="3024638"/>
          <a:ext cx="2901900" cy="1889009"/>
        </p:xfrm>
        <a:graphic>
          <a:graphicData uri="http://schemas.openxmlformats.org/drawingml/2006/table">
            <a:tbl>
              <a:tblPr>
                <a:noFill/>
                <a:tableStyleId>{8B56EABF-7106-4902-8DD7-AD6DABE9A89C}</a:tableStyleId>
              </a:tblPr>
              <a:tblGrid>
                <a:gridCol w="12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87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 b="1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DTI Group</a:t>
                      </a:r>
                      <a:endParaRPr sz="19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Low Risk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0.01 - 0.12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Medium Risk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0.12 - 0.21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 Risk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0.21 - 0.67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3" name="Google Shape;253;p25"/>
          <p:cNvGraphicFramePr/>
          <p:nvPr/>
        </p:nvGraphicFramePr>
        <p:xfrm>
          <a:off x="4645125" y="3024638"/>
          <a:ext cx="2901900" cy="1889009"/>
        </p:xfrm>
        <a:graphic>
          <a:graphicData uri="http://schemas.openxmlformats.org/drawingml/2006/table">
            <a:tbl>
              <a:tblPr>
                <a:noFill/>
                <a:tableStyleId>{8B56EABF-7106-4902-8DD7-AD6DABE9A89C}</a:tableStyleId>
              </a:tblPr>
              <a:tblGrid>
                <a:gridCol w="114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87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Credit Group</a:t>
                      </a:r>
                      <a:endParaRPr sz="19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Poor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373 - 650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Fair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650 - 709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709 - 850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4" name="Google Shape;254;p25"/>
          <p:cNvGraphicFramePr/>
          <p:nvPr/>
        </p:nvGraphicFramePr>
        <p:xfrm>
          <a:off x="8423425" y="3024638"/>
          <a:ext cx="2901900" cy="1889009"/>
        </p:xfrm>
        <a:graphic>
          <a:graphicData uri="http://schemas.openxmlformats.org/drawingml/2006/table">
            <a:tbl>
              <a:tblPr>
                <a:noFill/>
                <a:tableStyleId>{8B56EABF-7106-4902-8DD7-AD6DABE9A89C}</a:tableStyleId>
              </a:tblPr>
              <a:tblGrid>
                <a:gridCol w="114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87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Income Group</a:t>
                      </a:r>
                      <a:endParaRPr sz="19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Low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6000 - 28096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Medium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28096 - 47315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47315 - 400000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52387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19250"/>
            <a:ext cx="523875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/>
        </p:nvSpPr>
        <p:spPr>
          <a:xfrm>
            <a:off x="962025" y="200977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7185"/>
                </a:solidFill>
                <a:latin typeface="Outfit"/>
                <a:ea typeface="Outfit"/>
                <a:cs typeface="Outfit"/>
                <a:sym typeface="Outfit"/>
              </a:rPr>
              <a:t>The Default Driver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962025" y="2571750"/>
            <a:ext cx="4457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{loan_paid_back = Default}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962025" y="316602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 strongly associated with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962025" y="3699420"/>
            <a:ext cx="4457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{DTI_Group = High_Risk}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962025" y="4293691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Debt-to-Income ratio is a massive early indicator of default.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6772275" y="200977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The Safety Net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6772275" y="2571750"/>
            <a:ext cx="44577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{Credit_Group = Good}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+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{DTI_Group = Low_Risk}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6772275" y="3897362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results in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{Paid}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with very high confidence.</a:t>
            </a:r>
            <a:endParaRPr/>
          </a:p>
        </p:txBody>
      </p:sp>
      <p:pic>
        <p:nvPicPr>
          <p:cNvPr id="270" name="Google Shape;27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04787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0478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Key Findings: Apriori Rules</a:t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962025" y="4766070"/>
            <a:ext cx="44577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Support = 10%</a:t>
            </a:r>
            <a:endParaRPr sz="1800">
              <a:solidFill>
                <a:srgbClr val="CBD5E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Confidence = 50.24%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6703900" y="4766070"/>
            <a:ext cx="44577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Support = 11%</a:t>
            </a:r>
            <a:endParaRPr sz="1800">
              <a:solidFill>
                <a:srgbClr val="CBD5E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Confidence = 99.51%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19250"/>
            <a:ext cx="523875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962025" y="2571750"/>
            <a:ext cx="445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{loan_paid_back = </a:t>
            </a: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Paid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}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962025" y="3166020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 strongly associated with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962025" y="3699420"/>
            <a:ext cx="445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{</a:t>
            </a: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Employment_status = Retired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}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962025" y="4293691"/>
            <a:ext cx="445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Employment Status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ratio is a massive early indicator of 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paid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6772275" y="2009775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The Safety Net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6772275" y="2571750"/>
            <a:ext cx="44577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{Credit_Group = Good}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+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{DTI_Group = Low_Risk}</a:t>
            </a:r>
            <a:endParaRPr sz="1800" b="0" i="0" u="none" strike="noStrike" cap="none">
              <a:solidFill>
                <a:srgbClr val="CBD5E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+</a:t>
            </a:r>
            <a:endParaRPr sz="1800">
              <a:solidFill>
                <a:srgbClr val="CBD5E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{Employment_statues = Employed}</a:t>
            </a:r>
            <a:endParaRPr sz="1800">
              <a:solidFill>
                <a:srgbClr val="CBD5E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6772275" y="4820487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results in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{Paid}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with very high confidence.</a:t>
            </a:r>
            <a:endParaRPr/>
          </a:p>
        </p:txBody>
      </p:sp>
      <p:pic>
        <p:nvPicPr>
          <p:cNvPr id="289" name="Google Shape;28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52387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20478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Key Findings: </a:t>
            </a:r>
            <a:r>
              <a:rPr lang="en-US" sz="3150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ECLAT</a:t>
            </a: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Rules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571500" y="12192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962025" y="4766070"/>
            <a:ext cx="44577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Support = 5.8%</a:t>
            </a:r>
            <a:endParaRPr sz="1800">
              <a:solidFill>
                <a:srgbClr val="CBD5E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Confidence = 99.48%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6772275" y="5250595"/>
            <a:ext cx="44577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Support = 7.2%</a:t>
            </a:r>
            <a:endParaRPr sz="1800">
              <a:solidFill>
                <a:srgbClr val="CBD5E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Confidence = 99.93%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962025" y="2072950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The Safety Net</a:t>
            </a:r>
            <a:endParaRPr/>
          </a:p>
        </p:txBody>
      </p:sp>
      <p:pic>
        <p:nvPicPr>
          <p:cNvPr id="296" name="Google Shape;29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111050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52387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19250"/>
            <a:ext cx="523875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8"/>
          <p:cNvSpPr txBox="1"/>
          <p:nvPr/>
        </p:nvSpPr>
        <p:spPr>
          <a:xfrm>
            <a:off x="962025" y="200977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Logistic Regression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962025" y="25336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standard statistical approach. Estimates the probability of a binary outcome based on input variables.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6772275" y="200977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Decision Trees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6772275" y="25336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non-linear, rule-based approach that splits data into branches to make predictions.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1343025" y="3638550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Interpretable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1343025" y="3943350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Struggles with non-linear data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7153275" y="3333750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Handles class imbalance better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7153275" y="3638550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Captures complex patterns</a:t>
            </a:r>
            <a:endParaRPr/>
          </a:p>
        </p:txBody>
      </p:sp>
      <p:pic>
        <p:nvPicPr>
          <p:cNvPr id="312" name="Google Shape;31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3025" y="3690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43025" y="399573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3275" y="33861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3275" y="369093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Predictive Modeling</a:t>
            </a:r>
            <a:endParaRPr/>
          </a:p>
        </p:txBody>
      </p:sp>
      <p:sp>
        <p:nvSpPr>
          <p:cNvPr id="317" name="Google Shape;317;p28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9"/>
          <p:cNvSpPr txBox="1"/>
          <p:nvPr/>
        </p:nvSpPr>
        <p:spPr>
          <a:xfrm>
            <a:off x="2286000" y="518160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Class Imbalance Problem: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Because most people pay back loans, the model became biased toward predicting "Paid," resulting in a dangerously low detection rate for actual defaulters.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571500" y="3618237"/>
            <a:ext cx="53340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77.08%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571500" y="4665987"/>
            <a:ext cx="533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6286500" y="3618237"/>
            <a:ext cx="53340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B7185"/>
                </a:solidFill>
                <a:latin typeface="Outfit"/>
                <a:ea typeface="Outfit"/>
                <a:cs typeface="Outfit"/>
                <a:sym typeface="Outfit"/>
              </a:rPr>
              <a:t>38.8%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6286500" y="4665987"/>
            <a:ext cx="533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PRECISION (DEFAULT)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Logistic Regression Results</a:t>
            </a:r>
            <a:endParaRPr/>
          </a:p>
        </p:txBody>
      </p:sp>
      <p:sp>
        <p:nvSpPr>
          <p:cNvPr id="329" name="Google Shape;329;p29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" name="Google Shape;330;p29"/>
          <p:cNvGraphicFramePr/>
          <p:nvPr/>
        </p:nvGraphicFramePr>
        <p:xfrm>
          <a:off x="2406025" y="1781675"/>
          <a:ext cx="6838200" cy="1881512"/>
        </p:xfrm>
        <a:graphic>
          <a:graphicData uri="http://schemas.openxmlformats.org/drawingml/2006/table">
            <a:tbl>
              <a:tblPr>
                <a:noFill/>
                <a:tableStyleId>{8B56EABF-7106-4902-8DD7-AD6DABE9A89C}</a:tableStyleId>
              </a:tblPr>
              <a:tblGrid>
                <a:gridCol w="170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50">
                <a:tc rowSpan="2"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Confusion</a:t>
                      </a:r>
                      <a:endParaRPr sz="1800" b="1">
                        <a:solidFill>
                          <a:srgbClr val="F1F5F9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Matrix</a:t>
                      </a:r>
                      <a:endParaRPr sz="1800" b="1">
                        <a:solidFill>
                          <a:srgbClr val="F1F5F9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Reference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Default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Paid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5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Default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478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Paid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897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4321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1" name="Google Shape;331;p29"/>
          <p:cNvSpPr txBox="1"/>
          <p:nvPr/>
        </p:nvSpPr>
        <p:spPr>
          <a:xfrm>
            <a:off x="1738500" y="2790410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Prediction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0"/>
          <p:cNvSpPr txBox="1"/>
          <p:nvPr/>
        </p:nvSpPr>
        <p:spPr>
          <a:xfrm>
            <a:off x="647277" y="3040437"/>
            <a:ext cx="550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The Winner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978450" y="3659562"/>
            <a:ext cx="452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Accuracy: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89.06%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978450" y="4154862"/>
            <a:ext cx="452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Precision (Default):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86.76%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978450" y="4650162"/>
            <a:ext cx="4524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Correctly identified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642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defaulters, compared to Logistic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Regression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303.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978450" y="5450262"/>
            <a:ext cx="4524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Why?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Decision trees handled the non-linear relationships and class imbalance significantly better in this context.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Decision Tree Superiority</a:t>
            </a:r>
            <a:endParaRPr/>
          </a:p>
        </p:txBody>
      </p:sp>
      <p:sp>
        <p:nvSpPr>
          <p:cNvPr id="343" name="Google Shape;343;p30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75" y="3697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75" y="4192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75" y="4688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75" y="5488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0" title="decision_tre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4885" y="3224762"/>
            <a:ext cx="6381649" cy="35726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9" name="Google Shape;349;p30"/>
          <p:cNvGraphicFramePr/>
          <p:nvPr/>
        </p:nvGraphicFramePr>
        <p:xfrm>
          <a:off x="2656213" y="1290750"/>
          <a:ext cx="6838200" cy="1881512"/>
        </p:xfrm>
        <a:graphic>
          <a:graphicData uri="http://schemas.openxmlformats.org/drawingml/2006/table">
            <a:tbl>
              <a:tblPr>
                <a:noFill/>
                <a:tableStyleId>{8B56EABF-7106-4902-8DD7-AD6DABE9A89C}</a:tableStyleId>
              </a:tblPr>
              <a:tblGrid>
                <a:gridCol w="170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50">
                <a:tc rowSpan="2"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Confusion</a:t>
                      </a:r>
                      <a:endParaRPr sz="1800" b="1">
                        <a:solidFill>
                          <a:srgbClr val="F1F5F9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Matrix</a:t>
                      </a:r>
                      <a:endParaRPr sz="1800" b="1">
                        <a:solidFill>
                          <a:srgbClr val="F1F5F9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Reference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Default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Paid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5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Default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642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1F5F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Paid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558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4701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0" name="Google Shape;350;p30"/>
          <p:cNvSpPr txBox="1"/>
          <p:nvPr/>
        </p:nvSpPr>
        <p:spPr>
          <a:xfrm>
            <a:off x="1988688" y="229948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Prediction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"Danger Zone"</a:t>
            </a: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875" y="1401150"/>
            <a:ext cx="10076259" cy="53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2"/>
          <p:cNvSpPr txBox="1"/>
          <p:nvPr/>
        </p:nvSpPr>
        <p:spPr>
          <a:xfrm>
            <a:off x="571500" y="1303800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Method: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Standard K-Means struggles with noise in datasets; CLARA is more robust. It repeats the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sampling process multiple times and selects the set of medoids that yields the best overall clustering for the entire database</a:t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"Danger Zone" (CLARA Clustering)</a:t>
            </a:r>
            <a:endParaRPr/>
          </a:p>
        </p:txBody>
      </p:sp>
      <p:sp>
        <p:nvSpPr>
          <p:cNvPr id="365" name="Google Shape;365;p32"/>
          <p:cNvSpPr/>
          <p:nvPr/>
        </p:nvSpPr>
        <p:spPr>
          <a:xfrm>
            <a:off x="571500" y="12192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2525" y="2038350"/>
            <a:ext cx="8986949" cy="474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3"/>
          <p:cNvSpPr txBox="1"/>
          <p:nvPr/>
        </p:nvSpPr>
        <p:spPr>
          <a:xfrm>
            <a:off x="571500" y="1304753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Hypothesis Check: Do banks actually charge risky people more? We clustered Credit Scores vs. Interest Rates.</a:t>
            </a:r>
            <a:endParaRPr dirty="0"/>
          </a:p>
        </p:txBody>
      </p:sp>
      <p:sp>
        <p:nvSpPr>
          <p:cNvPr id="373" name="Google Shape;373;p33"/>
          <p:cNvSpPr txBox="1"/>
          <p:nvPr/>
        </p:nvSpPr>
        <p:spPr>
          <a:xfrm>
            <a:off x="571500" y="6142375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Conclusion: The bank is rationally pricing risk, but high interest rates on subprime borrowers may also be contributing to the default loop.</a:t>
            </a:r>
            <a:endParaRPr/>
          </a:p>
        </p:txBody>
      </p:sp>
      <p:sp>
        <p:nvSpPr>
          <p:cNvPr id="374" name="Google Shape;374;p3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Risk-Based Pricing (K-Means)</a:t>
            </a:r>
            <a:endParaRPr/>
          </a:p>
        </p:txBody>
      </p:sp>
      <p:sp>
        <p:nvSpPr>
          <p:cNvPr id="375" name="Google Shape;375;p33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5013" y="1751138"/>
            <a:ext cx="8141963" cy="42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52387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19250"/>
            <a:ext cx="523875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4"/>
          <p:cNvSpPr txBox="1"/>
          <p:nvPr/>
        </p:nvSpPr>
        <p:spPr>
          <a:xfrm>
            <a:off x="962025" y="2667000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Optimization Strategy</a:t>
            </a:r>
            <a:endParaRPr/>
          </a:p>
        </p:txBody>
      </p:sp>
      <p:sp>
        <p:nvSpPr>
          <p:cNvPr id="385" name="Google Shape;385;p34"/>
          <p:cNvSpPr txBox="1"/>
          <p:nvPr/>
        </p:nvSpPr>
        <p:spPr>
          <a:xfrm>
            <a:off x="962025" y="319087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Instead of arbitrary "Equal Frequency" bins, we re-ran Association Rules using the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Cluster Centers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just found.</a:t>
            </a:r>
            <a:endParaRPr/>
          </a:p>
        </p:txBody>
      </p:sp>
      <p:sp>
        <p:nvSpPr>
          <p:cNvPr id="386" name="Google Shape;386;p34"/>
          <p:cNvSpPr txBox="1"/>
          <p:nvPr/>
        </p:nvSpPr>
        <p:spPr>
          <a:xfrm>
            <a:off x="6772275" y="2667000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Data-Driven Thresholds</a:t>
            </a:r>
            <a:endParaRPr/>
          </a:p>
        </p:txBody>
      </p:sp>
      <p:pic>
        <p:nvPicPr>
          <p:cNvPr id="387" name="Google Shape;387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0375" y="20478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0625" y="2047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4"/>
          <p:cNvSpPr txBox="1"/>
          <p:nvPr/>
        </p:nvSpPr>
        <p:spPr>
          <a:xfrm>
            <a:off x="7048500" y="31432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0" name="Google Shape;390;p34"/>
          <p:cNvSpPr txBox="1"/>
          <p:nvPr/>
        </p:nvSpPr>
        <p:spPr>
          <a:xfrm>
            <a:off x="7153275" y="314325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New Income Breaks: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$37k, $78k (derived from CLARA)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7048500" y="37528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7153275" y="3752850"/>
            <a:ext cx="4076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New Credit Breaks: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638, 715 (derived from K-Means)</a:t>
            </a:r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Refined Analysis: The Loop Back</a:t>
            </a:r>
            <a:endParaRPr/>
          </a:p>
        </p:txBody>
      </p:sp>
      <p:sp>
        <p:nvSpPr>
          <p:cNvPr id="394" name="Google Shape;394;p34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5"/>
          <p:cNvSpPr txBox="1"/>
          <p:nvPr/>
        </p:nvSpPr>
        <p:spPr>
          <a:xfrm>
            <a:off x="762000" y="762000"/>
            <a:ext cx="4800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Power of 0.1%</a:t>
            </a:r>
            <a:endParaRPr/>
          </a:p>
        </p:txBody>
      </p:sp>
      <p:sp>
        <p:nvSpPr>
          <p:cNvPr id="401" name="Google Shape;401;p35"/>
          <p:cNvSpPr txBox="1"/>
          <p:nvPr/>
        </p:nvSpPr>
        <p:spPr>
          <a:xfrm>
            <a:off x="762000" y="17907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Using cluster-based bins improved our rule confidence by just </a:t>
            </a: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0.1%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402" name="Google Shape;402;p35"/>
          <p:cNvSpPr txBox="1"/>
          <p:nvPr/>
        </p:nvSpPr>
        <p:spPr>
          <a:xfrm>
            <a:off x="971550" y="3512580"/>
            <a:ext cx="4381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"In high-volume finance, marginal gains in model precision translate into massive capital preservation."</a:t>
            </a:r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762000" y="3540180"/>
            <a:ext cx="38100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762000" y="3143250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BUSINESS IMPACT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6"/>
          <p:cNvSpPr txBox="1"/>
          <p:nvPr/>
        </p:nvSpPr>
        <p:spPr>
          <a:xfrm>
            <a:off x="199200" y="481125"/>
            <a:ext cx="48006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50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Thank You</a:t>
            </a:r>
            <a:endParaRPr sz="4300"/>
          </a:p>
        </p:txBody>
      </p:sp>
      <p:pic>
        <p:nvPicPr>
          <p:cNvPr id="412" name="Google Shape;41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0155" y="0"/>
            <a:ext cx="821184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1025</Words>
  <Application>Microsoft Office PowerPoint</Application>
  <PresentationFormat>Widescreen</PresentationFormat>
  <Paragraphs>164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Outfit</vt:lpstr>
      <vt:lpstr>Calibri</vt:lpstr>
      <vt:lpstr>Inter</vt:lpstr>
      <vt:lpstr>Arial</vt:lpstr>
      <vt:lpstr>Outfit SemiBold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Patel, Het - (hetpatel)</cp:lastModifiedBy>
  <cp:revision>1</cp:revision>
  <dcterms:modified xsi:type="dcterms:W3CDTF">2025-12-10T04:21:00Z</dcterms:modified>
</cp:coreProperties>
</file>